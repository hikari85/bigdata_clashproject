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E95DC2-CC7A-44A8-A178-B2DBF207B7DC}">
  <a:tblStyle styleId="{39E95DC2-CC7A-44A8-A178-B2DBF207B7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6f10e9395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a6f10e9395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6f10e9395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a6f10e9395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6f10e9395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a6f10e9395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AC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and gold rectangles&#10;&#10;Description automatically generated with low confidence" id="18" name="Google Shape;18;p3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0" y="1576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logo, font, graphics&#10;&#10;Description automatically generated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3376" y="1"/>
            <a:ext cx="2688624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0" y="6235701"/>
            <a:ext cx="12192000" cy="622299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0" y="6812280"/>
            <a:ext cx="12192000" cy="45719"/>
          </a:xfrm>
          <a:prstGeom prst="round2SameRect">
            <a:avLst>
              <a:gd fmla="val 0" name="adj1"/>
              <a:gd fmla="val 0" name="adj2"/>
            </a:avLst>
          </a:prstGeom>
          <a:solidFill>
            <a:srgbClr val="D7AC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189186" y="1825625"/>
            <a:ext cx="11887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roup of people walking in front of a building&#10;&#10;Description automatically generated" id="86" name="Google Shape;86;p13"/>
          <p:cNvPicPr preferRelativeResize="0"/>
          <p:nvPr/>
        </p:nvPicPr>
        <p:blipFill rotWithShape="1">
          <a:blip r:embed="rId3">
            <a:alphaModFix amt="15000"/>
          </a:blip>
          <a:srcRect b="0" l="0" r="0" t="20312"/>
          <a:stretch/>
        </p:blipFill>
        <p:spPr>
          <a:xfrm>
            <a:off x="0" y="-18662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23303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 picture containing text, logo, font, graphics&#10;&#10;Description automatically generated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562" y="0"/>
            <a:ext cx="2865438" cy="161068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0" y="6388100"/>
            <a:ext cx="12192000" cy="1270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 flipH="1" rot="10800000">
            <a:off x="0" y="6573518"/>
            <a:ext cx="12192000" cy="45719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>
            <p:ph type="ctrTitle"/>
          </p:nvPr>
        </p:nvSpPr>
        <p:spPr>
          <a:xfrm>
            <a:off x="645875" y="317575"/>
            <a:ext cx="8759100" cy="17547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SOCSE</a:t>
            </a:r>
            <a:b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DATA ANALYTICS - PRESENTATION</a:t>
            </a:r>
            <a:b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2025-26</a:t>
            </a:r>
            <a:br>
              <a:rPr lang="en-US" sz="3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000">
              <a:solidFill>
                <a:schemeClr val="lt1"/>
              </a:solidFill>
            </a:endParaRPr>
          </a:p>
        </p:txBody>
      </p:sp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429208" y="2407719"/>
            <a:ext cx="10238792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TOPIC: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Analysis of Clash of Clans player communities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29208" y="3298440"/>
            <a:ext cx="87591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GROUP BATCH: A3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45875" y="4104700"/>
            <a:ext cx="5135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By: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Prabhas Bhat                  		1RVU22BSC069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Prasanna G                  		1RVU22BSC072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Mershika U	        		1RVU22BSC052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Jyosthna C                               1RVU22BSC021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368600" y="4104700"/>
            <a:ext cx="3299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Prof.Vinod Kumar Raju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idx="10" type="dt"/>
          </p:nvPr>
        </p:nvSpPr>
        <p:spPr>
          <a:xfrm>
            <a:off x="2758751" y="6330561"/>
            <a:ext cx="5851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SOCSE, RV University</a:t>
            </a:r>
            <a:endParaRPr/>
          </a:p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903142" y="511302"/>
            <a:ext cx="174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91000" y="1355125"/>
            <a:ext cx="11610000" cy="46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225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  <a:endParaRPr/>
          </a:p>
          <a:p>
            <a:pPr indent="-22225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REQUIREMENTS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225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0" type="dt"/>
          </p:nvPr>
        </p:nvSpPr>
        <p:spPr>
          <a:xfrm>
            <a:off x="2758751" y="6330561"/>
            <a:ext cx="5851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SOCSE, RV University</a:t>
            </a:r>
            <a:endParaRPr/>
          </a:p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3784799" y="646300"/>
            <a:ext cx="307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265500" y="1691550"/>
            <a:ext cx="11338500" cy="3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games like 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Clash of Clans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generate huge amounts of data from millions of players.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Clan-related data includes 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clan types, leagues, points, levels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 of members.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single-node systems struggle to process such large datasets efficiently.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 Data tools are required to store, process, and analyze this data at scale.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analyzes 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3.56 million clan records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Apache Spark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Apache Hive.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203550" y="1417200"/>
            <a:ext cx="10836900" cy="4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gaming platforms like Clash of Clans generate massive volumes of structured data related to player clans, rankings, and league behaviors.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single-node data processing systems, such as Apache Hive on a virtual machine, face scalability and performance limitations when handling large-scale datasets.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to evaluate and compare the performance of single-node versus multi-node data processing architectures for large gaming datasets.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addresses the challenge of identifying an optimal big data analytics framework for processing and analyzing millions of rows of gaming data efficiently.</a:t>
            </a:r>
            <a:endParaRPr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6"/>
          <p:cNvSpPr txBox="1"/>
          <p:nvPr>
            <p:ph idx="10" type="dt"/>
          </p:nvPr>
        </p:nvSpPr>
        <p:spPr>
          <a:xfrm>
            <a:off x="2758751" y="6330561"/>
            <a:ext cx="5851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SOCSE, RV University</a:t>
            </a:r>
            <a:endParaRPr/>
          </a:p>
        </p:txBody>
      </p:sp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2120611" y="556100"/>
            <a:ext cx="585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203550" y="1470475"/>
            <a:ext cx="115299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analyze the Clash of Clans dataset by studying the distribution of clan types and the behavioral patterns of clans across different ranked leagues using large-scale gaming data.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implement and execute aggregation-based analytics on a dataset of approximately 3.56 million records using both a single-node Apache Hive setup and a multi-node Apache Spark cluster on Google Cloud Platform.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compare and evaluate system performance by measuring execution times and analyzing the efficiency and scalability of multi-node Spark versus single-node Hive for gaming big data analytics.</a:t>
            </a:r>
            <a:endParaRPr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7"/>
          <p:cNvSpPr txBox="1"/>
          <p:nvPr>
            <p:ph idx="10" type="dt"/>
          </p:nvPr>
        </p:nvSpPr>
        <p:spPr>
          <a:xfrm>
            <a:off x="2758751" y="6330561"/>
            <a:ext cx="5851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SOCSE, RV University</a:t>
            </a:r>
            <a:endParaRPr/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2533436" y="441575"/>
            <a:ext cx="5851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343600" y="1494400"/>
            <a:ext cx="11376300" cy="4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: Clash Of Clans</a:t>
            </a:r>
            <a:endParaRPr b="1" i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contains around 3.56 million clan records collected from the popular mobile game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Clash of Clans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It is a large-scale CSV dataset, representing real-world gaming data and is well-suited for Big Data analysis using distributed systems like Apache Spark and Apache Hive.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record includes 27 attributes, such as clan tag, clan name, clan type (open / invite-only / closed), clan war league, clan points, clan level, number of members, location details, and war statistics.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features enable a detailed analysis of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clan behavior, league distribution, and engagement patterns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8"/>
          <p:cNvSpPr txBox="1"/>
          <p:nvPr>
            <p:ph idx="10" type="dt"/>
          </p:nvPr>
        </p:nvSpPr>
        <p:spPr>
          <a:xfrm>
            <a:off x="2758751" y="6330561"/>
            <a:ext cx="5851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SOCSE, RV University</a:t>
            </a:r>
            <a:endParaRPr/>
          </a:p>
        </p:txBody>
      </p:sp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3130073" y="627100"/>
            <a:ext cx="399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ET DETAILS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367625" y="1213500"/>
            <a:ext cx="11137500" cy="4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9"/>
          <p:cNvSpPr txBox="1"/>
          <p:nvPr>
            <p:ph idx="10" type="dt"/>
          </p:nvPr>
        </p:nvSpPr>
        <p:spPr>
          <a:xfrm>
            <a:off x="2758751" y="6330561"/>
            <a:ext cx="5851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SOCSE, RV University</a:t>
            </a:r>
            <a:endParaRPr/>
          </a:p>
        </p:txBody>
      </p:sp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3277775" y="388100"/>
            <a:ext cx="450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3" name="Google Shape;143;p19"/>
          <p:cNvGraphicFramePr/>
          <p:nvPr/>
        </p:nvGraphicFramePr>
        <p:xfrm>
          <a:off x="579650" y="129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{39E95DC2-CC7A-44A8-A178-B2DBF207B7DC}</a:tableStyleId>
              </a:tblPr>
              <a:tblGrid>
                <a:gridCol w="5489725"/>
                <a:gridCol w="5489725"/>
              </a:tblGrid>
              <a:tr h="582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WORKFLOW FOR GCP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WORKFLOW FOR HIVE</a:t>
                      </a:r>
                      <a:endParaRPr b="1"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8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1.Upload dataset to bucket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1.Upload the dataset into Hadoop fs with put command.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8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2.Create a </a:t>
                      </a: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 node</a:t>
                      </a: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cluster with 2 worker nodes and Jupyter lab interface enabled.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2.Initialize hive in CLI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8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3.Open Jupyter lab notebook in the cluster and choose spark language for cells.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3.Make a table with all necessary columns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8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4.Load the dataset from bucket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4.Insert data from Hadoop fs into the table.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8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5.Run aggregations and record execution times for each.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5.Run aggregations on the table and record execution times for each.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/>
        </p:nvSpPr>
        <p:spPr>
          <a:xfrm>
            <a:off x="354300" y="1471200"/>
            <a:ext cx="6052500" cy="4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9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Requirements :</a:t>
            </a:r>
            <a:endParaRPr b="1" sz="19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Apache Spark - </a:t>
            </a:r>
            <a:r>
              <a:rPr lang="en-US" sz="1600">
                <a:solidFill>
                  <a:schemeClr val="dk1"/>
                </a:solidFill>
              </a:rPr>
              <a:t>Used for fast, distributed data processing on large datasets.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Apache Hive</a:t>
            </a:r>
            <a:r>
              <a:rPr lang="en-US" sz="1600">
                <a:solidFill>
                  <a:schemeClr val="dk1"/>
                </a:solidFill>
              </a:rPr>
              <a:t> -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r>
              <a:rPr lang="en-US" sz="1600">
                <a:solidFill>
                  <a:schemeClr val="dk1"/>
                </a:solidFill>
              </a:rPr>
              <a:t>Used for SQL-based querying and aggregation on large data.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Python (PySpark)</a:t>
            </a:r>
            <a:r>
              <a:rPr lang="en-US" sz="1600">
                <a:solidFill>
                  <a:schemeClr val="dk1"/>
                </a:solidFill>
              </a:rPr>
              <a:t> -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r>
              <a:rPr lang="en-US" sz="1600">
                <a:solidFill>
                  <a:schemeClr val="dk1"/>
                </a:solidFill>
              </a:rPr>
              <a:t>Used to write Spark programs and perform analytics.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Google Cloud Platform (GCP) </a:t>
            </a:r>
            <a:r>
              <a:rPr lang="en-US" sz="1600">
                <a:solidFill>
                  <a:schemeClr val="dk1"/>
                </a:solidFill>
              </a:rPr>
              <a:t>-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r>
              <a:rPr lang="en-US" sz="1600">
                <a:solidFill>
                  <a:schemeClr val="dk1"/>
                </a:solidFill>
              </a:rPr>
              <a:t>Used to create and manage the multi-node Spark cluster.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Linux Operating System</a:t>
            </a:r>
            <a:r>
              <a:rPr lang="en-US" sz="1600">
                <a:solidFill>
                  <a:schemeClr val="dk1"/>
                </a:solidFill>
              </a:rPr>
              <a:t> </a:t>
            </a:r>
            <a:r>
              <a:rPr b="1" lang="en-US" sz="1600">
                <a:solidFill>
                  <a:schemeClr val="dk1"/>
                </a:solidFill>
              </a:rPr>
              <a:t>- </a:t>
            </a:r>
            <a:r>
              <a:rPr lang="en-US" sz="1600">
                <a:solidFill>
                  <a:schemeClr val="dk1"/>
                </a:solidFill>
              </a:rPr>
              <a:t>Used as the base operating system for both Spark and Hive environments.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0"/>
          <p:cNvSpPr txBox="1"/>
          <p:nvPr>
            <p:ph idx="10" type="dt"/>
          </p:nvPr>
        </p:nvSpPr>
        <p:spPr>
          <a:xfrm>
            <a:off x="2758751" y="6330561"/>
            <a:ext cx="5851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SOCSE, RV University</a:t>
            </a:r>
            <a:endParaRPr/>
          </a:p>
        </p:txBody>
      </p:sp>
      <p:sp>
        <p:nvSpPr>
          <p:cNvPr id="150" name="Google Shape;150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1173350" y="327050"/>
            <a:ext cx="784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&amp; HARDWARE REQUIREMENTS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7020750" y="1686600"/>
            <a:ext cx="4964100" cy="3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Requirements :</a:t>
            </a:r>
            <a:endParaRPr b="1" sz="19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Multi-node Cluster on Google Cloud Platform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Node: 4 vCPUs, 15 GB RAM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Worker Node(s): 2 vCPUs, 7.5 GB RAM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Single-node Virtual Machine (Cloudera VM)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CPU: 1 Processor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Memory: 5 GB RAM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Storage: 64 GB Disk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/>
        </p:nvSpPr>
        <p:spPr>
          <a:xfrm>
            <a:off x="380949" y="1376050"/>
            <a:ext cx="11314521" cy="4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Clan Type Distribution Results: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clans dominate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dataset with over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2.5 million clans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showing a strong preference for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accessible and casual gameplay communities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Invite-only and closed clans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fewer, indicating more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and controlled participation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among competitive players.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1"/>
          <p:cNvSpPr txBox="1"/>
          <p:nvPr>
            <p:ph idx="10" type="dt"/>
          </p:nvPr>
        </p:nvSpPr>
        <p:spPr>
          <a:xfrm>
            <a:off x="2758751" y="6330561"/>
            <a:ext cx="5851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SOCSE, RV University</a:t>
            </a:r>
            <a:endParaRPr/>
          </a:p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3264500" y="534600"/>
            <a:ext cx="450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175" y="1987100"/>
            <a:ext cx="4394450" cy="191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/>
        </p:nvSpPr>
        <p:spPr>
          <a:xfrm>
            <a:off x="7025850" y="2104025"/>
            <a:ext cx="4600800" cy="18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Unranked clans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dominate the dataset, while higher leagues such as Champion and Master show fewer but more competitive clans with higher points, levels, and member counts.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2"/>
          <p:cNvSpPr txBox="1"/>
          <p:nvPr>
            <p:ph idx="10" type="dt"/>
          </p:nvPr>
        </p:nvSpPr>
        <p:spPr>
          <a:xfrm>
            <a:off x="2758751" y="6330561"/>
            <a:ext cx="5851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SOCSE, RV University</a:t>
            </a:r>
            <a:endParaRPr/>
          </a:p>
        </p:txBody>
      </p:sp>
      <p:sp>
        <p:nvSpPr>
          <p:cNvPr id="168" name="Google Shape;168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3291150" y="215025"/>
            <a:ext cx="450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100" y="778900"/>
            <a:ext cx="6106525" cy="525205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 txBox="1"/>
          <p:nvPr/>
        </p:nvSpPr>
        <p:spPr>
          <a:xfrm>
            <a:off x="152400" y="152400"/>
            <a:ext cx="492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League-wise Aggregation Results :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/>
        </p:nvSpPr>
        <p:spPr>
          <a:xfrm>
            <a:off x="354275" y="412850"/>
            <a:ext cx="8862300" cy="20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Comparison :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Spark cluster consistently outperformed the single-node Hive environment: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 to 5×–10× faster execution times.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scalability for large aggregations.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Execution time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3"/>
          <p:cNvSpPr txBox="1"/>
          <p:nvPr>
            <p:ph idx="10" type="dt"/>
          </p:nvPr>
        </p:nvSpPr>
        <p:spPr>
          <a:xfrm>
            <a:off x="2758751" y="6330561"/>
            <a:ext cx="5851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SOCSE, RV University</a:t>
            </a:r>
            <a:endParaRPr/>
          </a:p>
        </p:txBody>
      </p:sp>
      <p:sp>
        <p:nvSpPr>
          <p:cNvPr id="178" name="Google Shape;178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23"/>
          <p:cNvSpPr txBox="1"/>
          <p:nvPr/>
        </p:nvSpPr>
        <p:spPr>
          <a:xfrm>
            <a:off x="3291150" y="215025"/>
            <a:ext cx="450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8350" y="2805000"/>
            <a:ext cx="5145054" cy="3093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/>
        </p:nvSpPr>
        <p:spPr>
          <a:xfrm>
            <a:off x="446100" y="1587625"/>
            <a:ext cx="11380500" cy="3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results prove that Apache Spark running on a multi-node GCP cluster provided substantial performance benefits over a single-node Hive setup when dealing with big datasets.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Spark cluster benefits from parallel execution, in-memory computation, and efficient task scheduling, while the single-node Hive setup is limited by disk I/O and sequential processing.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analysis confirms that distributed computing frameworks such as Spark are better suited for scalable, real-world big data applications like online gaming analytics.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4"/>
          <p:cNvSpPr txBox="1"/>
          <p:nvPr>
            <p:ph idx="10" type="dt"/>
          </p:nvPr>
        </p:nvSpPr>
        <p:spPr>
          <a:xfrm>
            <a:off x="2758751" y="6330561"/>
            <a:ext cx="5851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SOCSE, RV University</a:t>
            </a:r>
            <a:endParaRPr/>
          </a:p>
        </p:txBody>
      </p:sp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24"/>
          <p:cNvSpPr txBox="1"/>
          <p:nvPr/>
        </p:nvSpPr>
        <p:spPr>
          <a:xfrm>
            <a:off x="3757200" y="481325"/>
            <a:ext cx="450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/>
        </p:nvSpPr>
        <p:spPr>
          <a:xfrm>
            <a:off x="446100" y="1587625"/>
            <a:ext cx="11380500" cy="3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5"/>
          <p:cNvSpPr txBox="1"/>
          <p:nvPr>
            <p:ph idx="10" type="dt"/>
          </p:nvPr>
        </p:nvSpPr>
        <p:spPr>
          <a:xfrm>
            <a:off x="2758751" y="6330561"/>
            <a:ext cx="5851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SOCSE, RV University</a:t>
            </a:r>
            <a:endParaRPr/>
          </a:p>
        </p:txBody>
      </p:sp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25"/>
          <p:cNvSpPr txBox="1"/>
          <p:nvPr/>
        </p:nvSpPr>
        <p:spPr>
          <a:xfrm>
            <a:off x="3429850" y="2625275"/>
            <a:ext cx="4509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48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